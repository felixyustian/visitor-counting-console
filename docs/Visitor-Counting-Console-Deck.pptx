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jp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Visitor Counting Console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Features and technical specification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Visitor counting on the CCTV a venue already has</a:t>
            </a:r>
          </a:p>
        </p:txBody>
      </p:sp>
      <p:pic>
        <p:nvPicPr>
          <p:cNvPr descr="figures/01_consol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entrances, one site. No turnstile, no new hardware, no app.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operator sees</a:t>
            </a:r>
          </a:p>
        </p:txBody>
      </p:sp>
      <p:pic>
        <p:nvPicPr>
          <p:cNvPr descr="figures/02_pa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70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Visitors today, current occupancy and every camera, side by side.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figures, deliberately different</a:t>
            </a:r>
          </a:p>
        </p:txBody>
      </p:sp>
      <p:pic>
        <p:nvPicPr>
          <p:cNvPr descr="figures/04_two_figur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Visitors today</a:t>
            </a:r>
            <a:r>
              <a:rPr/>
              <a:t> counts entries only and never falls</a:t>
            </a:r>
          </a:p>
          <a:p>
            <a:pPr lvl="0"/>
            <a:r>
              <a:rPr b="1"/>
              <a:t>Current occupancy</a:t>
            </a:r>
            <a:r>
              <a:rPr/>
              <a:t> is net, and falls again when people leave</a:t>
            </a:r>
          </a:p>
          <a:p>
            <a:pPr lvl="0" indent="0" marL="0">
              <a:buNone/>
            </a:pPr>
            <a:r>
              <a:rPr/>
              <a:t>Someone who walks in and out has still visited. Conflating the two is the most common way a footfall dashboard misleads.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pic>
        <p:nvPicPr>
          <p:cNvPr descr="figures/fig_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8229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trigger line, and what it really covers</a:t>
            </a:r>
          </a:p>
        </p:txBody>
      </p:sp>
      <p:pic>
        <p:nvPicPr>
          <p:cNvPr descr="figures/05_trigger_lin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113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dashed extension past each end is the </a:t>
            </a:r>
            <a:r>
              <a:rPr b="1"/>
              <a:t>8 % that still counts</a:t>
            </a:r>
            <a:r>
              <a:rPr/>
              <a:t>. It is drawn, because an invisible tolerance is indistinguishable from a bug when the numbers look wrong. A line saved within 4 % of the frame edge warns.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Demographics: two attributes, two strategies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Gender</a:t>
            </a:r>
            <a:r>
              <a:rPr/>
              <a:t> — the last three looks plus one at the moment of crossing, counted double. The read swings early in a track and settles at the line.</a:t>
            </a:r>
          </a:p>
          <a:p>
            <a:pPr lvl="0"/>
            <a:r>
              <a:rPr b="1"/>
              <a:t>Age</a:t>
            </a:r>
            <a:r>
              <a:rPr/>
              <a:t> — averages every observation. “Child” is noisy per frame and smooths out.</a:t>
            </a:r>
          </a:p>
          <a:p>
            <a:pPr lvl="0" indent="0" marL="0">
              <a:buNone/>
            </a:pPr>
            <a:r>
              <a:rPr/>
              <a:t>Measured on 56 hand-labelled crossings: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averaging everything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 strategy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90.9 %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94.5 %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adult / child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96.4 %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100 %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Undecided people are reported as </a:t>
            </a:r>
            <a:r>
              <a:rPr b="1"/>
              <a:t>unknown</a:t>
            </a:r>
            <a:r>
              <a:rPr/>
              <a:t>, never guessed, so the splits always reconcile to the total.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Counting areas have a role: count only inside</a:t>
            </a:r>
          </a:p>
        </p:txBody>
      </p:sp>
      <p:pic>
        <p:nvPicPr>
          <p:cNvPr descr="figures/06_area_coun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Only people inside the box are tracked at all — outside is dimmed, and the people there carry no boxes. The area reports its own population: </a:t>
            </a:r>
            <a:r>
              <a:rPr>
                <a:latin typeface="Courier"/>
              </a:rPr>
              <a:t>2 HERE 1M 1F 2A 0C</a:t>
            </a:r>
            <a:r>
              <a:rPr/>
              <a:t>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Ignore inside</a:t>
            </a:r>
          </a:p>
        </p:txBody>
      </p:sp>
      <p:pic>
        <p:nvPicPr>
          <p:cNvPr descr="figures/07_area_ignor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mirror image: people inside the box are skipped entirely. For a window, a mirror, a poster or a screen that the detector would otherwise count.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Classify only inside</a:t>
            </a:r>
          </a:p>
        </p:txBody>
      </p:sp>
      <p:pic>
        <p:nvPicPr>
          <p:cNvPr descr="figures/08_area_classify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Everyone is still counted; only those inside are sexed and aged. The accuracy lever on a wide scene — spend the crop budget where people are large and clear, instead of on distant figures.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the role matters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Restricting what is </a:t>
            </a:r>
            <a:r>
              <a:rPr b="1"/>
              <a:t>tracked</a:t>
            </a:r>
            <a:r>
              <a:rPr/>
              <a:t> and restricting what is </a:t>
            </a:r>
            <a:r>
              <a:rPr b="1"/>
              <a:t>classified</a:t>
            </a:r>
            <a:r>
              <a:rPr/>
              <a:t> are different needs.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 may sit outside?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 only inside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inside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inside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</a:t>
                      </a:r>
                      <a:r>
                        <a:rPr/>
                        <a:t> — saving warns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ignore inside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outside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everyone tracked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classify only inside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inside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Count only inside</a:t>
            </a:r>
            <a:r>
              <a:rPr/>
              <a:t> must contain the whole trigger line: a person is only tracked once inside the box, so one approaching from outside is first seen already at the line. The console says so rather than quietly counting nothing.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Cameras</a:t>
            </a:r>
          </a:p>
        </p:txBody>
      </p:sp>
      <p:pic>
        <p:nvPicPr>
          <p:cNvPr descr="figures/03_camera_l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56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 to </a:t>
            </a:r>
            <a:r>
              <a:rPr b="1"/>
              <a:t>six</a:t>
            </a:r>
            <a:r>
              <a:rPr/>
              <a:t>, added and removed while running</a:t>
            </a:r>
          </a:p>
          <a:p>
            <a:pPr lvl="0"/>
            <a:r>
              <a:rPr/>
              <a:t>One row per camera, whatever the count; the list scrolls on its own</a:t>
            </a:r>
          </a:p>
          <a:p>
            <a:pPr lvl="0"/>
            <a:r>
              <a:rPr/>
              <a:t>Paired feeds: one key swaps a panel between its live camera and a saved clip</a:t>
            </a:r>
          </a:p>
          <a:p>
            <a:pPr lvl="0"/>
            <a:r>
              <a:rPr/>
              <a:t>An offline camera </a:t>
            </a:r>
            <a:r>
              <a:rPr b="1"/>
              <a:t>hides its figures</a:t>
            </a:r>
            <a:r>
              <a:rPr/>
              <a:t> rather than showing frozen ones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Capacity, alerts, evidence</a:t>
            </a:r>
          </a:p>
        </p:txBody>
      </p:sp>
      <p:pic>
        <p:nvPicPr>
          <p:cNvPr descr="figures/09_alar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banner names the entrance that tipped the count, a clip is recorded automatically, and any entrance can carry its own limit.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Interfaces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24 HTTP and WebSocket endpoints</a:t>
            </a:r>
            <a:r>
              <a:rPr/>
              <a:t> — state, history, cameras, lines, areas, capacity, recording</a:t>
            </a:r>
          </a:p>
          <a:p>
            <a:pPr lvl="0"/>
            <a:r>
              <a:rPr b="1"/>
              <a:t>MJPEG</a:t>
            </a:r>
            <a:r>
              <a:rPr/>
              <a:t> overlay stream per camera, encoded once and shared between viewers</a:t>
            </a:r>
          </a:p>
          <a:p>
            <a:pPr lvl="0"/>
            <a:r>
              <a:rPr b="1"/>
              <a:t>JSON state</a:t>
            </a:r>
            <a:r>
              <a:rPr/>
              <a:t> pushed over WebSocket at about 4 Hz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events.csv</a:t>
            </a:r>
            <a:r>
              <a:rPr/>
              <a:t> — one row per crossing, with the probabilities and observation count behind the decision, so any number can be audited back to the frames that produced it.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history.csv</a:t>
            </a:r>
            <a:r>
              <a:rPr/>
              <a:t> — hourly rows, closing totals, corrections, recorded events.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Configuration stays on the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JSON files, written by the application, excluded from source control, seeded from committed templates:</a:t>
            </a:r>
          </a:p>
          <a:p>
            <a:pPr lvl="0"/>
            <a:r>
              <a:rPr>
                <a:latin typeface="Courier"/>
              </a:rPr>
              <a:t>sources.json</a:t>
            </a:r>
            <a:r>
              <a:rPr/>
              <a:t> — the live and video source sets</a:t>
            </a:r>
          </a:p>
          <a:p>
            <a:pPr lvl="0"/>
            <a:r>
              <a:rPr>
                <a:latin typeface="Courier"/>
              </a:rPr>
              <a:t>lines.json</a:t>
            </a:r>
            <a:r>
              <a:rPr/>
              <a:t> — trigger lines and counting areas, in normalised coordinates</a:t>
            </a:r>
          </a:p>
          <a:p>
            <a:pPr lvl="0"/>
            <a:r>
              <a:rPr>
                <a:latin typeface="Courier"/>
              </a:rPr>
              <a:t>site.json</a:t>
            </a:r>
            <a:r>
              <a:rPr/>
              <a:t> — hours, capacity, thresholds</a:t>
            </a:r>
          </a:p>
          <a:p>
            <a:pPr lvl="0" indent="0" marL="0">
              <a:buNone/>
            </a:pPr>
            <a:r>
              <a:rPr/>
              <a:t>A source update can never collide with a machine’s own calibration, and camera credentials never reach the repository.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Platforms and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acceleration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Ubuntu 22.04 / 24.04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NVIDIA CUDA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Windows 10 / 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NVIDIA CUDA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macOS (Apple Silicon)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Apple MPS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Ubuntu + Docker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NVIDIA CUDA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RTX 3060 Ti, three 1080p streams: detection and tracking ~40 ms per iteration, classification ~10–25 ms, </a:t>
            </a:r>
            <a:r>
              <a:rPr b="1"/>
              <a:t>~11–14 iterations per second</a:t>
            </a:r>
            <a:r>
              <a:rPr/>
              <a:t>. Throughput divides across cameras.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Known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Counting is the robust part.</a:t>
            </a:r>
            <a:r>
              <a:rPr/>
              <a:t> It needs the camera to see heads cleanly across the line — overhead or high-angle works best, along a corridor is much harder.</a:t>
            </a:r>
          </a:p>
          <a:p>
            <a:pPr lvl="0"/>
            <a:r>
              <a:rPr b="1"/>
              <a:t>Zero-shot classification is a baseline</a:t>
            </a:r>
            <a:r>
              <a:rPr/>
              <a:t>, not a purpose-trained attribute model, and will not match one.</a:t>
            </a:r>
          </a:p>
          <a:p>
            <a:pPr lvl="0"/>
            <a:r>
              <a:rPr b="1"/>
              <a:t>Distant people are counted but not classified</a:t>
            </a:r>
            <a:r>
              <a:rPr/>
              <a:t>, and are reported as unknown.</a:t>
            </a:r>
          </a:p>
          <a:p>
            <a:pPr lvl="0"/>
            <a:r>
              <a:rPr b="1"/>
              <a:t>The detector is AGPL-3.0.</a:t>
            </a:r>
            <a:r>
              <a:rPr/>
              <a:t> Offering this as a network service may oblige disclosure or a commercial licence. One file imports it.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Runs on existing CCTV, one machine, no cloud, no per-site training</a:t>
            </a:r>
          </a:p>
          <a:p>
            <a:pPr lvl="0"/>
            <a:r>
              <a:rPr/>
              <a:t>Two figures that mean different things, and are never conflated</a:t>
            </a:r>
          </a:p>
          <a:p>
            <a:pPr lvl="0"/>
            <a:r>
              <a:rPr/>
              <a:t>Accuracy work is </a:t>
            </a:r>
            <a:r>
              <a:rPr b="1"/>
              <a:t>measured</a:t>
            </a:r>
            <a:r>
              <a:rPr/>
              <a:t>, not asserted</a:t>
            </a:r>
          </a:p>
          <a:p>
            <a:pPr lvl="0"/>
            <a:r>
              <a:rPr/>
              <a:t>Unknowns are </a:t>
            </a:r>
            <a:r>
              <a:rPr b="1"/>
              <a:t>reported</a:t>
            </a:r>
            <a:r>
              <a:rPr/>
              <a:t>, not guessed</a:t>
            </a:r>
          </a:p>
          <a:p>
            <a:pPr lvl="0"/>
            <a:r>
              <a:rPr/>
              <a:t>Every number is auditable back to the frames that produced it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Visitor Counting Console</dc:title>
  <dc:creator/>
  <cp:keywords/>
  <dcterms:created xsi:type="dcterms:W3CDTF">2026-09-30T06:39:25Z</dcterms:created>
  <dcterms:modified xsi:type="dcterms:W3CDTF">2026-09-30T06:39:25Z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30 September 2026</vt:lpwstr>
  </property>
  <property fmtid="{D5CDD505-2E9C-101B-9397-08002B2CF9AE}" pid="3" name="subtitle">
    <vt:lpwstr>Features and technical specification</vt:lpwstr>
  </property>
</Properties>
</file>