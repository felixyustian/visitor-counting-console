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Visitor Counting Console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Features and technical specification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September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Visitor counting on the CCTV a venue already has.</a:t>
            </a:r>
          </a:p>
          <a:p>
            <a:pPr lvl="0"/>
            <a:r>
              <a:rPr/>
              <a:t>A trigger line drawn across each entrance</a:t>
            </a:r>
          </a:p>
          <a:p>
            <a:pPr lvl="0"/>
            <a:r>
              <a:rPr/>
              <a:t>A person is counted when their </a:t>
            </a:r>
            <a:r>
              <a:rPr b="1"/>
              <a:t>head point</a:t>
            </a:r>
            <a:r>
              <a:rPr/>
              <a:t> crosses it</a:t>
            </a:r>
          </a:p>
          <a:p>
            <a:pPr lvl="0"/>
            <a:r>
              <a:rPr/>
              <a:t>Zero-shot classification gives </a:t>
            </a:r>
            <a:r>
              <a:rPr b="1"/>
              <a:t>male / female</a:t>
            </a:r>
            <a:r>
              <a:rPr/>
              <a:t> and </a:t>
            </a:r>
            <a:r>
              <a:rPr b="1"/>
              <a:t>adult / child</a:t>
            </a:r>
          </a:p>
          <a:p>
            <a:pPr lvl="0"/>
            <a:r>
              <a:rPr/>
              <a:t>No turnstile, no new hardware, no app</a:t>
            </a:r>
          </a:p>
          <a:p>
            <a:pPr lvl="0" indent="0" marL="0">
              <a:buNone/>
            </a:pPr>
            <a:r>
              <a:rPr/>
              <a:t>One machine with a GPU runs everything. No database, no cloud, no per-site training.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RTSP / HTTP / file
  -&gt; threaded decode, one thread per source
  -&gt; YOLO11 detection, one batched pass for all cameras
  -&gt; ByteTrack, one tracker per camera
  -&gt; head point crosses the line -&gt; entry (+1) / exit (-1)
  -&gt; SigLIP 2 gender and adult/child on selected crops
  -&gt; counters, alerts, CSV logs
  -&gt; MJPEG overlays + JSON state over WebSocket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figures, deliberately different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Visitors today</a:t>
            </a:r>
            <a:r>
              <a:rPr/>
              <a:t> counts entries only and never falls</a:t>
            </a:r>
          </a:p>
          <a:p>
            <a:pPr lvl="0"/>
            <a:r>
              <a:rPr b="1"/>
              <a:t>Current occupancy</a:t>
            </a:r>
            <a:r>
              <a:rPr/>
              <a:t> is net and falls again when people leave</a:t>
            </a:r>
          </a:p>
          <a:p>
            <a:pPr lvl="0" indent="0" marL="0">
              <a:buNone/>
            </a:pPr>
            <a:r>
              <a:rPr/>
              <a:t>Someone who walks in and out has still visited.</a:t>
            </a:r>
          </a:p>
          <a:p>
            <a:pPr lvl="0" indent="0" marL="0">
              <a:buNone/>
            </a:pPr>
            <a:r>
              <a:rPr/>
              <a:t>Conflating the two is the most common way a footfall dashboard misleads.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Counting: the parts that stop a wrong number looking right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8 % tolerance</a:t>
            </a:r>
            <a:r>
              <a:rPr/>
              <a:t> past each end of the line — and it is </a:t>
            </a:r>
            <a:r>
              <a:rPr i="1"/>
              <a:t>drawn</a:t>
            </a:r>
            <a:r>
              <a:rPr/>
              <a:t>, because an invisible tolerance is indistinguishable from a bug</a:t>
            </a:r>
          </a:p>
          <a:p>
            <a:pPr lvl="0"/>
            <a:r>
              <a:rPr b="1"/>
              <a:t>4 % edge warning</a:t>
            </a:r>
            <a:r>
              <a:rPr/>
              <a:t> — a line too near the frame edge fires before the tracker has established the person</a:t>
            </a:r>
          </a:p>
          <a:p>
            <a:pPr lvl="0"/>
            <a:r>
              <a:rPr b="1"/>
              <a:t>Hysteresis + multi-frame confirmation</a:t>
            </a:r>
            <a:r>
              <a:rPr/>
              <a:t> absorb detector jitter</a:t>
            </a:r>
          </a:p>
          <a:p>
            <a:pPr lvl="0"/>
            <a:r>
              <a:rPr b="1"/>
              <a:t>One event per side transition per track</a:t>
            </a:r>
            <a:r>
              <a:rPr/>
              <a:t>; a new track at the same spot is treated as an ID switch and ignored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Demographics: two attributes, two strategies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Gender</a:t>
            </a:r>
            <a:r>
              <a:rPr/>
              <a:t> — last three looks plus one at the moment of crossing, counted double. The read swings early in a track and settles at the line.</a:t>
            </a:r>
          </a:p>
          <a:p>
            <a:pPr lvl="0"/>
            <a:r>
              <a:rPr b="1"/>
              <a:t>Age</a:t>
            </a:r>
            <a:r>
              <a:rPr/>
              <a:t> — averages every observation. “Child” is noisy per frame and smooths out.</a:t>
            </a:r>
          </a:p>
          <a:p>
            <a:pPr lvl="0" indent="0" marL="0">
              <a:buNone/>
            </a:pPr>
            <a:r>
              <a:rPr/>
              <a:t>Measured on 56 hand-labelled crossings: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attribute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averaging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split strategy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gender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90.9 %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94.5 %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adult / child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96.4 %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100 %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Counting areas have a role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Restricting what is </a:t>
            </a:r>
            <a:r>
              <a:rPr b="1"/>
              <a:t>tracked</a:t>
            </a:r>
            <a:r>
              <a:rPr/>
              <a:t> and what is </a:t>
            </a:r>
            <a:r>
              <a:rPr b="1"/>
              <a:t>classified</a:t>
            </a:r>
            <a:r>
              <a:rPr/>
              <a:t> are different needs.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only inside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people inside are tracked at all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ignore inside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people inside are skipped: a window, a mirror, a poster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classify only inside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everyone counted, only those inside sexed and aged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Only the first constrains where the line may go — and the console says so when it is violated.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area reports its own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is standing in it </a:t>
            </a:r>
            <a:r>
              <a:rPr b="1"/>
              <a:t>right now</a:t>
            </a:r>
            <a:r>
              <a:rPr/>
              <a:t>, split male/female and adult/child.</a:t>
            </a:r>
          </a:p>
          <a:p>
            <a:pPr lvl="0"/>
            <a:r>
              <a:rPr/>
              <a:t>Owes nothing to the trigger line</a:t>
            </a:r>
          </a:p>
          <a:p>
            <a:pPr lvl="0"/>
            <a:r>
              <a:rPr/>
              <a:t>Reads correctly from the first frame rather than starting at zero</a:t>
            </a:r>
          </a:p>
          <a:p>
            <a:pPr lvl="0"/>
            <a:r>
              <a:rPr/>
              <a:t>Undecided people are reported as unknown, so the parts always sum to the total</a:t>
            </a:r>
          </a:p>
          <a:p>
            <a:pPr lvl="0" indent="0" marL="0">
              <a:buNone/>
            </a:pPr>
            <a:r>
              <a:rPr i="1"/>
              <a:t>Classify only inside</a:t>
            </a:r>
            <a:r>
              <a:rPr/>
              <a:t> is the accuracy lever on a wide scene: spend the crop budget where people are large and clear.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Cameras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to </a:t>
            </a:r>
            <a:r>
              <a:rPr b="1"/>
              <a:t>six</a:t>
            </a:r>
            <a:r>
              <a:rPr/>
              <a:t>, added and removed while running; the grid re-lays itself out</a:t>
            </a:r>
          </a:p>
          <a:p>
            <a:pPr lvl="0"/>
            <a:r>
              <a:rPr/>
              <a:t>RTSP, HTTP or a video file per camera</a:t>
            </a:r>
          </a:p>
          <a:p>
            <a:pPr lvl="0"/>
            <a:r>
              <a:rPr/>
              <a:t>Passwords with </a:t>
            </a:r>
            <a:r>
              <a:rPr>
                <a:latin typeface="Courier"/>
              </a:rPr>
              <a:t>@ : $ % &amp;</a:t>
            </a:r>
            <a:r>
              <a:rPr/>
              <a:t> or spaces are encoded automatically</a:t>
            </a:r>
          </a:p>
          <a:p>
            <a:pPr lvl="0"/>
            <a:r>
              <a:rPr b="1"/>
              <a:t>Paired feeds</a:t>
            </a:r>
            <a:r>
              <a:rPr/>
              <a:t>: one key swaps a panel between its live camera and a saved clip</a:t>
            </a:r>
          </a:p>
          <a:p>
            <a:pPr lvl="0"/>
            <a:r>
              <a:rPr/>
              <a:t>An unreachable camera reports </a:t>
            </a:r>
            <a:r>
              <a:rPr>
                <a:latin typeface="Courier"/>
              </a:rPr>
              <a:t>OFFLINE</a:t>
            </a:r>
            <a:r>
              <a:rPr/>
              <a:t> and </a:t>
            </a:r>
            <a:r>
              <a:rPr b="1"/>
              <a:t>hides its figures</a:t>
            </a:r>
            <a:r>
              <a:rPr/>
              <a:t> rather than showing frozen ones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Capacity, alerts,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Site capacity with a warning threshold; the banner </a:t>
            </a:r>
            <a:r>
              <a:rPr b="1"/>
              <a:t>names the entrance</a:t>
            </a:r>
            <a:r>
              <a:rPr/>
              <a:t> that tipped the count</a:t>
            </a:r>
          </a:p>
          <a:p>
            <a:pPr lvl="0"/>
            <a:r>
              <a:rPr/>
              <a:t>Per-area capacity, alarming independently</a:t>
            </a:r>
          </a:p>
          <a:p>
            <a:pPr lvl="0"/>
            <a:r>
              <a:rPr/>
              <a:t>One button records 10 s before and 20 s after, with a note</a:t>
            </a:r>
          </a:p>
          <a:p>
            <a:pPr lvl="0"/>
            <a:r>
              <a:rPr/>
              <a:t>Over capacity records a clip automatically</a:t>
            </a:r>
          </a:p>
          <a:p>
            <a:pPr lvl="0"/>
            <a:r>
              <a:rPr/>
              <a:t>Every crossing is logged with the probabilities behind the decision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24 HTTP and WebSocket endpoints</a:t>
            </a:r>
            <a:r>
              <a:rPr/>
              <a:t> — state, history, cameras, lines, areas, capacity, recording</a:t>
            </a:r>
          </a:p>
          <a:p>
            <a:pPr lvl="0"/>
            <a:r>
              <a:rPr b="1"/>
              <a:t>MJPEG</a:t>
            </a:r>
            <a:r>
              <a:rPr/>
              <a:t> overlay stream per camera, encoded once and shared between viewers</a:t>
            </a:r>
          </a:p>
          <a:p>
            <a:pPr lvl="0"/>
            <a:r>
              <a:rPr b="1"/>
              <a:t>JSON state</a:t>
            </a:r>
            <a:r>
              <a:rPr/>
              <a:t> pushed over WebSocket at about 4 Hz</a:t>
            </a:r>
          </a:p>
          <a:p>
            <a:pPr lvl="0"/>
            <a:r>
              <a:rPr>
                <a:latin typeface="Courier"/>
              </a:rPr>
              <a:t>output/events.csv</a:t>
            </a:r>
            <a:r>
              <a:rPr/>
              <a:t> — one row per crossing</a:t>
            </a:r>
          </a:p>
          <a:p>
            <a:pPr lvl="0"/>
            <a:r>
              <a:rPr>
                <a:latin typeface="Courier"/>
              </a:rPr>
              <a:t>output/history.csv</a:t>
            </a:r>
            <a:r>
              <a:rPr/>
              <a:t> — hourly, closing, corrections, events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Configuration stays on the machine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JSON files, written by the application, excluded from source control, seeded from committed templates:</a:t>
            </a:r>
          </a:p>
          <a:p>
            <a:pPr lvl="0"/>
            <a:r>
              <a:rPr>
                <a:latin typeface="Courier"/>
              </a:rPr>
              <a:t>sources.json</a:t>
            </a:r>
            <a:r>
              <a:rPr/>
              <a:t> — the live and video source sets</a:t>
            </a:r>
          </a:p>
          <a:p>
            <a:pPr lvl="0"/>
            <a:r>
              <a:rPr>
                <a:latin typeface="Courier"/>
              </a:rPr>
              <a:t>lines.json</a:t>
            </a:r>
            <a:r>
              <a:rPr/>
              <a:t> — trigger lines and counting areas, in normalised coordinates</a:t>
            </a:r>
          </a:p>
          <a:p>
            <a:pPr lvl="0"/>
            <a:r>
              <a:rPr>
                <a:latin typeface="Courier"/>
              </a:rPr>
              <a:t>site.json</a:t>
            </a:r>
            <a:r>
              <a:rPr/>
              <a:t> — hours, capacity, thresholds</a:t>
            </a:r>
          </a:p>
          <a:p>
            <a:pPr lvl="0" indent="0" marL="0">
              <a:buNone/>
            </a:pPr>
            <a:r>
              <a:rPr/>
              <a:t>A source update can never collide with a machine’s own calibration, and camera credentials never reach the repository.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Platforms and performance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acceleration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Ubuntu 22.04 / 24.04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NVIDIA CUDA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Windows 10 / 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NVIDIA CUDA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macOS (Apple Silicon)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Apple MPS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Ubuntu + Docker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NVIDIA CUDA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RTX 3060 Ti, three 1080p streams: detection and tracking ~40 ms per iteration, classification ~10–25 ms, </a:t>
            </a:r>
            <a:r>
              <a:rPr b="1"/>
              <a:t>~11–14 iterations per second</a:t>
            </a:r>
            <a:r>
              <a:rPr/>
              <a:t>. Throughput divides across cameras.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Known limits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Counting is the robust part.</a:t>
            </a:r>
            <a:r>
              <a:rPr/>
              <a:t> It needs the camera to see heads cleanly across the line — overhead or high-angle works best.</a:t>
            </a:r>
          </a:p>
          <a:p>
            <a:pPr lvl="0"/>
            <a:r>
              <a:rPr b="1"/>
              <a:t>Zero-shot classification is a baseline</a:t>
            </a:r>
            <a:r>
              <a:rPr/>
              <a:t>, not a purpose-trained attribute model.</a:t>
            </a:r>
          </a:p>
          <a:p>
            <a:pPr lvl="0"/>
            <a:r>
              <a:rPr b="1"/>
              <a:t>Distant people are counted but not classified</a:t>
            </a:r>
            <a:r>
              <a:rPr/>
              <a:t>, and are reported as unknown rather than guessed.</a:t>
            </a:r>
          </a:p>
          <a:p>
            <a:pPr lvl="0"/>
            <a:r>
              <a:rPr b="1"/>
              <a:t>The detector is AGPL-3.0.</a:t>
            </a:r>
            <a:r>
              <a:rPr/>
              <a:t> Offering this as a network service may oblige disclosure or a commercial licence. One file imports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Runs on existing CCTV, one machine, no cloud</a:t>
            </a:r>
          </a:p>
          <a:p>
            <a:pPr lvl="0"/>
            <a:r>
              <a:rPr/>
              <a:t>Two figures that mean different things, and never conflated</a:t>
            </a:r>
          </a:p>
          <a:p>
            <a:pPr lvl="0"/>
            <a:r>
              <a:rPr/>
              <a:t>Accuracy work is measured, not asserted</a:t>
            </a:r>
          </a:p>
          <a:p>
            <a:pPr lvl="0"/>
            <a:r>
              <a:rPr/>
              <a:t>Unknowns are reported, not guessed</a:t>
            </a:r>
          </a:p>
          <a:p>
            <a:pPr lvl="0"/>
            <a:r>
              <a:rPr/>
              <a:t>Every number auditable back to the frames that produced it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Visitor Counting Console</dc:title>
  <dc:creator/>
  <cp:keywords/>
  <dcterms:created xsi:type="dcterms:W3CDTF">2026-09-30T06:19:19Z</dcterms:created>
  <dcterms:modified xsi:type="dcterms:W3CDTF">2026-09-30T06:19:19Z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30 September 2026</vt:lpwstr>
  </property>
  <property fmtid="{D5CDD505-2E9C-101B-9397-08002B2CF9AE}" pid="3" name="subtitle">
    <vt:lpwstr>Features and technical specification</vt:lpwstr>
  </property>
</Properties>
</file>